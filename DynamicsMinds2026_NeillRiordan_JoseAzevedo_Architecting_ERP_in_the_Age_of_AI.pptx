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61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12191695" cy="3200400"/>
          </a:xfrm>
          <a:prstGeom prst="rect">
            <a:avLst/>
          </a:prstGeom>
        </p:spPr>
      </p:pic>
      <p:pic>
        <p:nvPicPr>
          <p:cNvPr id="3" name="Image 1" descr="/mnt/workspace/working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2880"/>
            <a:ext cx="777240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 365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11430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Power Platform Community Conference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143000" y="6583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25 – 27, 2026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143000" y="8229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Portorož, Slovenia, Europe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ARCHITECTING ERP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54864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AGE OF </a:t>
            </a:r>
            <a:r>
              <a:rPr lang="en-US" sz="4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548640" y="2697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still matter — and which new ones must we build?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48640" y="3200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DynamicsMinds 2026  |  D365 F&amp;O Track  |  Session V4.0</a:t>
            </a:r>
            <a:endParaRPr lang="en-US" sz="1200" dirty="0"/>
          </a:p>
        </p:txBody>
      </p:sp>
      <p:pic>
        <p:nvPicPr>
          <p:cNvPr id="12" name="Image 2" descr="/mnt/workspace/working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914400"/>
            <a:ext cx="3200400" cy="32004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5989320"/>
            <a:ext cx="51206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48640" y="6035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NEILL RIORDAN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Lead D365 F&amp;O  |  KPMG UK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52160" y="5989320"/>
            <a:ext cx="51206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035040" y="6035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AZEVEDO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035040" y="6355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AI ERP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KPMG UK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FAR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years, one through-line: what does a great Solution Architect actually do?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661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Holistic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introduced the Wheel — Technical, Functional, Industry, Method, Commercial, Engagement. Six spokes that define the role.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661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177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194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4617720" y="3246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Synergy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17720" y="3840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layered the Wheel into the broader Microsoft stack — integration, OneLake, BI, and the multi-instance reality.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1691640"/>
            <a:ext cx="3566160" cy="4023360"/>
          </a:xfrm>
          <a:prstGeom prst="rect">
            <a:avLst/>
          </a:prstGeom>
          <a:solidFill>
            <a:srgbClr val="F2B705"/>
          </a:solidFill>
          <a:ln w="1905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124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0" y="2194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8412480" y="3246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Era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12480" y="3840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Wheel still holds. The contents inside every spoke are being rewritten by AI. Today we explore how.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1480" y="914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11480" y="1417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|  Q&amp;A at the end</a:t>
            </a:r>
            <a:endParaRPr lang="en-US" sz="1100" dirty="0"/>
          </a:p>
        </p:txBody>
      </p:sp>
      <p:pic>
        <p:nvPicPr>
          <p:cNvPr id="7" name="Image 1" descr="/mnt/workspace/working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23360"/>
            <a:ext cx="292608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640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29200" y="640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 Quiz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0" y="10241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room sits on the AI adoption curve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20624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029200" y="15544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Wheel Holds, the Contents Don't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19385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spokes — what's inside each one has changed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206240" y="2468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29200" y="24688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Spotlights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28529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Functional, Method — what AI looks like up close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0" y="33832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5029200" y="33832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Architects Add Value Now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029200" y="37673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tailoring, translation, visualization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206240" y="42976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029200" y="42976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Part &amp; a Framework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029200" y="46817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agents, plus 5 gates to use AI safely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206240" y="5212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5029200" y="5212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Take-Aways &amp; Q&amp;A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029200" y="55961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90 / 180 / 365 days — and your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read of the room before we begin.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176479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role on D365 implementations?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0" y="176479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use AI tools in your daily work?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290779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AI changed how you gather requirements?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283464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350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58000" y="290779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written a prompt as part of a design decision?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371600" y="405079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clients ask about AI governance?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397764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350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58000" y="405079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"AI literacy" on your team's development plan?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on screen to submit your answers anonymously — results appear live.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pic>
        <p:nvPicPr>
          <p:cNvPr id="3" name="Image 1" descr="/mnt/workspace/working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21208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REALITY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12 months AI moved from a demo to a working tool on every implementation we touch.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40" y="1828800"/>
            <a:ext cx="35661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1965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9600" dirty="0"/>
          </a:p>
        </p:txBody>
      </p:sp>
      <p:sp>
        <p:nvSpPr>
          <p:cNvPr id="8" name="Text 4"/>
          <p:cNvSpPr/>
          <p:nvPr/>
        </p:nvSpPr>
        <p:spPr>
          <a:xfrm>
            <a:off x="54864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22960" y="42062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F&amp;O, BC, Power Platform, Azure, Microsoft 365 — all production-grade now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828800"/>
            <a:ext cx="35661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343400" y="1965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434340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drafts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17720" y="42062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FDDs, configuration notes — but quality is now the bottleneck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661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138160" y="1965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600" dirty="0"/>
          </a:p>
        </p:txBody>
      </p:sp>
      <p:sp>
        <p:nvSpPr>
          <p:cNvPr id="16" name="Text 12"/>
          <p:cNvSpPr/>
          <p:nvPr/>
        </p:nvSpPr>
        <p:spPr>
          <a:xfrm>
            <a:off x="813816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clients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412480" y="42062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AI question on the table before the contract is signed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"should we use AI?" — it is "where, how, and who is accountable?"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3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HOLDS</a:t>
            </a: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CONTENTS DON'T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eight spokes. Every one of them is being filled with new tools, new tradeoffs, new craft.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82790" y="1783080"/>
            <a:ext cx="4012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FRAMEWORK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82790" y="2148840"/>
            <a:ext cx="401296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Wheel from V2.0 is unchanged. All six spokes still required for a great Solution Architect.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82790" y="2926080"/>
            <a:ext cx="4012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CONTENTS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82790" y="3291840"/>
            <a:ext cx="401296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INSIDE each spoke — the tools, the language, the daily craft — is being rewritten by AI.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82790" y="4069080"/>
            <a:ext cx="4012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782790" y="4434840"/>
            <a:ext cx="401296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"do we drop spokes?" — but "what does each spoke now demand?"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782790" y="5440680"/>
            <a:ext cx="4012969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897168" y="5440680"/>
            <a:ext cx="3715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OLD vs NEW across all six spokes.</a:t>
            </a:r>
            <a:endParaRPr lang="en-US" sz="1200" dirty="0"/>
          </a:p>
        </p:txBody>
      </p:sp>
      <p:pic>
        <p:nvPicPr>
          <p:cNvPr id="35" name="Picture 34" descr="The image depicts a diagram illustrating the key components of a solution architecture, including industry, technical aspects, engagement and team skills, functional roles, problem-solving, methodologies, and stakeholder management.&#10;&#10;AI-generated content may be incorrect.">
            <a:extLst>
              <a:ext uri="{FF2B5EF4-FFF2-40B4-BE49-F238E27FC236}">
                <a16:creationId xmlns:a16="http://schemas.microsoft.com/office/drawing/2014/main" id="{0E544353-1AE6-64F9-67B8-3F484CCD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3" y="1737360"/>
            <a:ext cx="7751151" cy="45366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vs NEW </a:t>
            </a:r>
            <a:r>
              <a:rPr lang="en-US" sz="3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 SIX SPOKES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 name is the same. The componentry inside it has changed.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1099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17520" y="14173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CONTENT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11109960" cy="7132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1947672"/>
            <a:ext cx="91440" cy="56692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1874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1874520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integrations, manual code, deep manuals.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0" y="18745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Copilot Studio, Azure AI Foundry.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660904"/>
            <a:ext cx="91440" cy="56692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258775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2587752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fit-gap, BPM authoring, feature-by-feature design.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98080" y="258775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coding, 1st/3rd-party productivity &amp; delivery agents.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300984"/>
            <a:ext cx="11109960" cy="7132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8640" y="3374136"/>
            <a:ext cx="91440" cy="56692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7240" y="330098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17520" y="3300984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holding context in their head.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98080" y="330098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AI models, industry copilots, accelerator data.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87368"/>
            <a:ext cx="91440" cy="56692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" y="40142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017520" y="4014216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 with hand-crafted documents at each step.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98080" y="4014216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outputs — radically different journey through phases.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727448"/>
            <a:ext cx="11109960" cy="7132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" y="4800600"/>
            <a:ext cx="91440" cy="56692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7240" y="472744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017520" y="4727448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SOWs, T&amp;M, value cases written by hand.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98080" y="4727448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 cases, outcome-based pricing, agent ROI models.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513832"/>
            <a:ext cx="91440" cy="56692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77240" y="544068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017520" y="5440680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then slow synthesis into deliverables.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498080" y="54406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co-creation; transcripts become first drafts.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8640" y="6263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zoom into three of these next: Technical, Functional, and Method.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 ·  TECHNICAL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</a:t>
            </a: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STACK STAYS, BUILD CHANGES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 still owns the stack — but the daily craft of building on it is unrecognisable.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4864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86400" cy="1371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EXAMPLE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Pair-programmer for X++, AL, PowerFx, C#, KQL.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41248" y="376732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code, refactors, and tests in seconds.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436168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spends more time reviewing intent, less time typing.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1248" y="495604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97280" y="4800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bugs caught earlier; harder ones still need you.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1874520"/>
            <a:ext cx="5486400" cy="4069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1874520"/>
            <a:ext cx="5486400" cy="1371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4652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copilots and AI services grounded in your D365 data.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4652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 + Azure AI Foundry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464808" y="376732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2084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copilots over F&amp;O / BC data with retrieval grounding.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64808" y="436168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2084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 for classification, summarisation, OCR, search.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64808" y="495604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20840" y="4800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 skill: choosing where intelligence belongs in the stack.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decision is no longer "build vs. buy" — it is "build, buy, prompt, or agent".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pic>
        <p:nvPicPr>
          <p:cNvPr id="3" name="Image 1" descr="/mnt/workspace/working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21208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 ·  FUNCTIONAL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</a:t>
            </a: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FIT-GAP MEETS VIBE CODING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hand-written features to spoken intent and agents that act on it.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874520"/>
            <a:ext cx="54864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48640" y="1874520"/>
            <a:ext cx="5486400" cy="1371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EXAMPLE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change in plain English. See it scaffolded. Iterate fast.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41248" y="376732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9728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forms, flows, and configurations from a short prompt.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" y="436168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9728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unlocks more options explored before commitment.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41248" y="495604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97280" y="4800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consultants need new vocabulary, not new degrees.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72200" y="1874520"/>
            <a:ext cx="5486400" cy="4069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72200" y="1874520"/>
            <a:ext cx="5486400" cy="1371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4652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4652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productivity agents + third-party delivery agents.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4652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— 1P &amp; 3P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6464808" y="376732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72084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/ Sales / Service Copilots for end-user productivity.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64808" y="436168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72084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&amp; ISV agents for delivery, test, and operations.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64808" y="495604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720840" y="4800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Implementation Agent Templates — covered later in this deck.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skill is now: pick the right agent, give it the right job, keep it on the rails.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 ·  METHOD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</a:t>
            </a: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SAME OUTPUTS, DIFFERENT JOURNEY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and deliverables don't move. The path between them is unrecognisable.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4864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86400" cy="1371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EXAMPLE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BPMs, FDDs, configuration notes, test scripts, cutover plans. All still required.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Outputs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41248" y="376732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 for sign-off is unchanged — arguably higher.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436168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traceability, and intent must still hold up.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1248" y="495604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97280" y="4800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still want to see the same artefacts at the same gates.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1874520"/>
            <a:ext cx="5486400" cy="4069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1874520"/>
            <a:ext cx="5486400" cy="1371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4652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replace weeks; transcripts replace memos.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4652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Journey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464808" y="376732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2084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→ transcripts → first-draft user stories &amp; FDDs.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64808" y="436168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2084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co-creation in tools, not async doc swaps.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64808" y="4956048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20840" y="4800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ALM, testing, and release cadence speed up — pressure-tests governance.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spoke doesn't collapse — it accelerates. Architects pace the team and the client.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</a:t>
            </a: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THESE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AI does NOT replace — and that matter more, not less, in the AI era.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82880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Knowledge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828800" y="22860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know your client's P&amp;L, their auditors, their year-end. You do. Domain depth is the moat.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17373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745236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Management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452360" y="22860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committees do not want a model — they want a person they trust. Earning that trust is still entirely human work.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182880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828800" y="43891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excellent at the next step. Architects are responsible for the whole. End-to-end thinking across modules, integrations, and time.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3840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745236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 on Trade-Offs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452360" y="43891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complexity, in-app vs. extension, standard vs. customisation. AI surfaces options; the architect chooses.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ARCHITECT </a:t>
            </a:r>
            <a:r>
              <a:rPr lang="en-US" sz="3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ADDS VALUE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typing. You do the thinking, tailoring, translating — and showing.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39496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64592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Reviewing, challenging, and curating AI output before it touches the client. The first reader, not the first writer.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9496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164592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37960" y="2468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generic AI output to a specific industry, client, and team. The model knows ERP — you know THIS ERP.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539496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164592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" y="45262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the decision in the language the CFO, the CIO, and the end user each need to hear.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3840480"/>
            <a:ext cx="539496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3840480"/>
            <a:ext cx="164592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37960" y="45262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— not just telling — what the solution will look like. As we go faster, clients must SEE it to absorb 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pic>
        <p:nvPicPr>
          <p:cNvPr id="3" name="Image 1" descr="/mnt/workspace/working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21208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ARCHITECT </a:t>
            </a:r>
            <a:r>
              <a:rPr lang="en-US" sz="3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OWNS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does not shrink. It sharpens. These four things stay yours — by name.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4937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640080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48640" y="1783080"/>
            <a:ext cx="640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132588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325880" y="24688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across cost, complexity, and risk. AI lays out options. You decide which one ships.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4937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69280" y="1783080"/>
            <a:ext cx="640080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669280" y="1783080"/>
            <a:ext cx="640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644652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446520" y="24688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Sign-off, audit trail, and what reaches production. AI does not get called at 2am. You do.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4937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840480"/>
            <a:ext cx="640080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3840480"/>
            <a:ext cx="640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5"/>
          <p:cNvSpPr/>
          <p:nvPr/>
        </p:nvSpPr>
        <p:spPr>
          <a:xfrm>
            <a:off x="1325880" y="4023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1325880" y="45262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"why this, not that" behind every design. Models optimise; architects choose what to optimise for.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669280" y="3840480"/>
            <a:ext cx="4937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669280" y="3840480"/>
            <a:ext cx="640080" cy="1874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669280" y="3840480"/>
            <a:ext cx="640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0"/>
          <p:cNvSpPr/>
          <p:nvPr/>
        </p:nvSpPr>
        <p:spPr>
          <a:xfrm>
            <a:off x="6446520" y="4023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6446520" y="45262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with the client and the team. Steering committees buy people, not models.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The architect disposes — and signs.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PROBLEM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now design faster than clients can absorb. That is a new risk — and a new job.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029200" cy="429768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align, approve, and adopt.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5166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— not build — is the new bottleneck.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ARCHITECT'S NEW JOB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52160" y="2148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the client, not just the team.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852160" y="2862072"/>
            <a:ext cx="256032" cy="25603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27889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send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13639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configs and screens live. A 30-min demo beats a 30-page doc.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3685032"/>
            <a:ext cx="256032" cy="25603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17920" y="3611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 decisions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17920" y="395935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Diagrams, swim-lanes, before/after screens — the architect's new deliverables.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852160" y="4507992"/>
            <a:ext cx="256032" cy="25603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17920" y="4434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the absorption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17920" y="478231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designs into client-sized chunks. Sign-off in slices, not in bricks.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52160" y="5330952"/>
            <a:ext cx="256032" cy="25603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17920" y="5257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the change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17920" y="560527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build. The change team needs the architect at the table earlier.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go faster, the architect's ability to EXPLAIN and SHOW becomes the limiting factor.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pic>
        <p:nvPicPr>
          <p:cNvPr id="3" name="Image 1" descr="/mnt/workspace/working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21208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</a:t>
            </a: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QUALITY &amp; TRUST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delivery. The architect is now the brake — and the conscience.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5212080" cy="420624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7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GIVES YOU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" y="2331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77240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5840" y="31089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FDDs in minutes, not days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611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05840" y="36118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test scripts and 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05840" y="41148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diffs across environments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4617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05840" y="46177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 of new consultants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7240" y="5120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005840" y="51206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meeting summaries and action items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35040" y="1783080"/>
            <a:ext cx="521208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2636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MUST PROTECT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263640" y="2331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TRUST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6263640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92240" y="31089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in design docs and configs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263640" y="3611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92240" y="36118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between AI draft and client intent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263640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92240" y="41148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Over-confidence — "the AI said so"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263640" y="4617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492240" y="46177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institutional memory if no one reviews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263640" y="5120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492240" y="51206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relationships built on you, not the tool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</a:t>
            </a: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DEAD OR ESSENTIAL?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claim: "AI does the hard thinking — we just need prompt jockeys now." We disagree.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064240" cy="146304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faster machines write, the more valuable it becomes to know what should be written, by whom, for whom, and why — and to SHOW it."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508760" y="3703320"/>
            <a:ext cx="731520" cy="7315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50876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49834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what is NOT being said in a steering committee — AI can't.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352044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43400" y="3703320"/>
            <a:ext cx="731520" cy="7315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4340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6616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11880" y="49834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ambiguous problems into the right question, before any model runs.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352044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78040" y="3703320"/>
            <a:ext cx="731520" cy="7315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7804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6520" y="49834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decisions live so clients can absorb them at AI-era pace.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52560" y="352044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0012680" y="3703320"/>
            <a:ext cx="731520" cy="7315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1268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23544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49834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CFOs, CIOs, and end users to a shared decision under pressure.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 to integrate AI without losing quality, IP, or client trust.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2920" y="1828800"/>
            <a:ext cx="2194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0632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are we trying to support? Never "use AI for AI's sake".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0" y="1828800"/>
            <a:ext cx="2194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0" y="182880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8036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8036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926080" y="30632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authoritative data does the model see — client docs, configs, code?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83480" y="1828800"/>
            <a:ext cx="2194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82880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2064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166360" y="30632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the first draft, structured outputs, options exploration.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23760" y="1828800"/>
            <a:ext cx="2194560" cy="3291840"/>
          </a:xfrm>
          <a:prstGeom prst="rect">
            <a:avLst/>
          </a:prstGeom>
          <a:solidFill>
            <a:srgbClr val="F2B705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223760" y="182880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6092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06640" y="30632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by a named architect. Trade-offs, risks, edge cases.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464040" y="1828800"/>
            <a:ext cx="2194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464040" y="182880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0120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0120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646920" y="30632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Sign-off, audit trail, and rollback path before it touches the client.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non-negotiable. AI proposes — the architect disposes.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PART  ·  WHAT WE EXPECT FROM THE PLATFORM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</a:t>
            </a:r>
            <a:r>
              <a:rPr lang="en-US" sz="3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TEMPLATES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is shipping the tooling for implementation teams. Cross-functional. Architect-grade.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Learn — D365 Guidance · Implementation Agent Templates Overview (updated Mar 2026)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3949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3949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Planner Helper Agent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77240" y="37490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discovery, analysis, and work-item creation for D365 release waves.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ARCHITECT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4846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Architects: faster impact assessment of every wave; less manual ticket triage.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2606040"/>
            <a:ext cx="53949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72200" y="2606040"/>
            <a:ext cx="53949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5508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3154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Parser Agent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00800" y="37490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trace analysis from hours to minutes via conversational AI.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ARCHITECT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4846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Architects: faster root-cause on production incidents; better post-mortems.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577840"/>
            <a:ext cx="1106424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48640" y="5577840"/>
            <a:ext cx="164592" cy="9601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8680" y="5650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should expect — and ask for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868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agents across the lifecycle (design, test, cutover, hypercare). Open templates we can extend. A clear line between Microsoft's job (platform) and ours (judgement).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 your next 90, 180, and 365 days.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35661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hands dirty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320040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1560" y="3108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for every FDD, BPM, and config note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97764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38862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MS Implementation Agent on a live workstream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75488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46634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internal prompt library you re-use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1737360"/>
            <a:ext cx="35661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4340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343400" y="2377440"/>
            <a:ext cx="35661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structured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572000" y="320040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3108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5-gate framework on one live workstream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397764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38862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AI acceptance criteria with your QA lead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0" y="475488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46320" y="46634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one consultant on prompt + judgement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38160" y="1737360"/>
            <a:ext cx="35661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381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8138160" y="2377440"/>
            <a:ext cx="35661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667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the conversation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366760" y="320040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41080" y="3108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AI governance section of an SOW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366760" y="397764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641080" y="38862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publicly about an AI-enabled delivery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366760" y="475488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41080" y="46634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two SAs into AI-era competence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35040"/>
            <a:ext cx="502920" cy="502920"/>
          </a:xfrm>
          <a:prstGeom prst="rect">
            <a:avLst/>
          </a:prstGeom>
        </p:spPr>
      </p:pic>
      <p:pic>
        <p:nvPicPr>
          <p:cNvPr id="3" name="Image 1" descr="/mnt/workspace/working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21208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en-US" sz="3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TAKE-AWAYS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sentences. Steal them, share them, argue with them.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41732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Wheel holds. All six spokes still define the Solution Architect.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417320" y="2606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contents inside every spoke are being rewritten — GitHub Copilot, vibe coding, agents, new method journeys.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594360" cy="594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008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417320" y="3383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architect's value shifts to feedback, tailoring, translation, and visualization — not typing.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94360" cy="594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417320" y="4160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accountability, intent, and trust still belong to the architect — by name.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0080" y="4892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1417320" y="4937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is shipping the tooling. Our job is to use it with judgement and pace the clients absorbing it.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workspace/working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12191695" cy="3200400"/>
          </a:xfrm>
          <a:prstGeom prst="rect">
            <a:avLst/>
          </a:prstGeom>
        </p:spPr>
      </p:pic>
      <p:pic>
        <p:nvPicPr>
          <p:cNvPr id="3" name="Image 1" descr="/mnt/workspace/working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731520"/>
            <a:ext cx="3108960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54864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5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54864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argue about it.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NEILL RIORDAN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Lead D365 F&amp;O  |  KPMG UK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neill.riordan@kpmg.co.uk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linkedin.com/in/neillriordan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03504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AZEVEDO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0350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Lead D365 BC  |  KPMG UK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3504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maique00@gmail.com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03504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linkedin.com/in/josemiguelazevedo</a:t>
            </a:r>
            <a:endParaRPr lang="en-US" sz="1100" dirty="0"/>
          </a:p>
        </p:txBody>
      </p:sp>
      <p:pic>
        <p:nvPicPr>
          <p:cNvPr id="15" name="Image 2" descr="/mnt/workspace/working/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e622ef1a-ad6a-4bf2-a4b0-ea0f51cca6a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2468</Words>
  <Application>Microsoft Office PowerPoint</Application>
  <PresentationFormat>Widescreen</PresentationFormat>
  <Paragraphs>349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User124</cp:lastModifiedBy>
  <cp:revision>3</cp:revision>
  <dcterms:created xsi:type="dcterms:W3CDTF">2026-05-24T13:00:00Z</dcterms:created>
  <dcterms:modified xsi:type="dcterms:W3CDTF">2026-05-29T17:13:36Z</dcterms:modified>
</cp:coreProperties>
</file>